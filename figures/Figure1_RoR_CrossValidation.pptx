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18"/>
  </p:normalViewPr>
  <p:slideViewPr>
    <p:cSldViewPr snapToGrid="0" snapToObjects="1">
      <p:cViewPr varScale="1">
        <p:scale>
          <a:sx n="210" d="100"/>
          <a:sy n="210" d="100"/>
        </p:scale>
        <p:origin x="3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Figure 1. 5-Fold Cross-Validation for Residual-on-Residual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914400" cy="1828800"/>
          </a:xfrm>
          <a:prstGeom prst="rect">
            <a:avLst/>
          </a:prstGeom>
          <a:solidFill>
            <a:srgbClr val="E6E6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latin typeface="Arial"/>
              </a:defRPr>
            </a:pPr>
            <a:r>
              <a:t>Dataset</a:t>
            </a:r>
          </a:p>
          <a:p>
            <a:pPr algn="ctr">
              <a:defRPr sz="1000" b="0">
                <a:latin typeface="Arial"/>
              </a:defRPr>
            </a:pPr>
            <a:r>
              <a:t>(n observations)</a:t>
            </a:r>
          </a:p>
          <a:p>
            <a:pPr algn="ctr">
              <a:defRPr sz="1000" b="0">
                <a:latin typeface="Arial"/>
              </a:defRPr>
            </a:pPr>
            <a:endParaRPr/>
          </a:p>
          <a:p>
            <a:pPr algn="ctr">
              <a:defRPr sz="1000" b="0">
                <a:latin typeface="Arial"/>
              </a:defRPr>
            </a:pPr>
            <a:r>
              <a:t>Y, A, C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417320" y="173736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77724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5-Fold Cross-Validation (k = 1, ...,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601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Iter.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960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960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960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960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9601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18872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1188720"/>
            <a:ext cx="457200" cy="320040"/>
          </a:xfrm>
          <a:prstGeom prst="rect">
            <a:avLst/>
          </a:prstGeom>
          <a:solidFill>
            <a:srgbClr val="FFC86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188720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188720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188720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188720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15727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1572768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572768"/>
            <a:ext cx="457200" cy="320040"/>
          </a:xfrm>
          <a:prstGeom prst="rect">
            <a:avLst/>
          </a:prstGeom>
          <a:solidFill>
            <a:srgbClr val="FFC86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572768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1572768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572768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1956816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1956816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1956816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1956816"/>
            <a:ext cx="457200" cy="320040"/>
          </a:xfrm>
          <a:prstGeom prst="rect">
            <a:avLst/>
          </a:prstGeom>
          <a:solidFill>
            <a:srgbClr val="FFC86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1956816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1956816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20" y="2340864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2340864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340864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2340864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2340864"/>
            <a:ext cx="457200" cy="320040"/>
          </a:xfrm>
          <a:prstGeom prst="rect">
            <a:avLst/>
          </a:prstGeom>
          <a:solidFill>
            <a:srgbClr val="FFC86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2340864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2724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2724912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2724912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2724912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2724912"/>
            <a:ext cx="457200" cy="320040"/>
          </a:xfrm>
          <a:prstGeom prst="rect">
            <a:avLst/>
          </a:prstGeom>
          <a:solidFill>
            <a:srgbClr val="C8DCF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2724912"/>
            <a:ext cx="457200" cy="320040"/>
          </a:xfrm>
          <a:prstGeom prst="rect">
            <a:avLst/>
          </a:prstGeom>
          <a:solidFill>
            <a:srgbClr val="FFC86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Test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846320" y="1737360"/>
            <a:ext cx="45720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92040" y="1371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Fit on</a:t>
            </a:r>
          </a:p>
          <a:p>
            <a:r>
              <a:t>Train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640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1005840"/>
            <a:ext cx="1188720" cy="640080"/>
          </a:xfrm>
          <a:prstGeom prst="rect">
            <a:avLst/>
          </a:prstGeom>
          <a:solidFill>
            <a:srgbClr val="B4DC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latin typeface="Arial"/>
              </a:defRPr>
            </a:pPr>
            <a:r>
              <a:t>Fit model</a:t>
            </a:r>
          </a:p>
          <a:p>
            <a:pPr algn="ctr">
              <a:defRPr sz="900" b="0">
                <a:latin typeface="Arial"/>
              </a:defRPr>
            </a:pPr>
            <a:r>
              <a:t>m̂Y(C)</a:t>
            </a:r>
          </a:p>
          <a:p>
            <a:pPr algn="ctr">
              <a:defRPr sz="900" b="0">
                <a:latin typeface="Arial"/>
              </a:defRPr>
            </a:pPr>
            <a:r>
              <a:t>(Y ~ 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94960" y="1828800"/>
            <a:ext cx="1188720" cy="640080"/>
          </a:xfrm>
          <a:prstGeom prst="rect">
            <a:avLst/>
          </a:prstGeom>
          <a:solidFill>
            <a:srgbClr val="DCB4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latin typeface="Arial"/>
              </a:defRPr>
            </a:pPr>
            <a:r>
              <a:t>Fit model</a:t>
            </a:r>
          </a:p>
          <a:p>
            <a:pPr algn="ctr">
              <a:defRPr sz="900" b="0">
                <a:latin typeface="Arial"/>
              </a:defRPr>
            </a:pPr>
            <a:r>
              <a:t>m̂A(C)</a:t>
            </a:r>
          </a:p>
          <a:p>
            <a:pPr algn="ctr">
              <a:defRPr sz="900" b="0">
                <a:latin typeface="Arial"/>
              </a:defRPr>
            </a:pPr>
            <a:r>
              <a:t>(A ~ C)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6629400" y="1737360"/>
            <a:ext cx="365760" cy="228600"/>
          </a:xfrm>
          <a:prstGeom prst="right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9400" y="13716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Predict</a:t>
            </a:r>
          </a:p>
          <a:p>
            <a:r>
              <a:t>on 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1005840"/>
            <a:ext cx="1188720" cy="640080"/>
          </a:xfrm>
          <a:prstGeom prst="rect">
            <a:avLst/>
          </a:prstGeom>
          <a:solidFill>
            <a:srgbClr val="B4DC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latin typeface="Arial"/>
              </a:defRPr>
            </a:pPr>
            <a:r>
              <a:t>Out-of-sample</a:t>
            </a:r>
          </a:p>
          <a:p>
            <a:pPr algn="ctr">
              <a:defRPr sz="900" b="0">
                <a:latin typeface="Arial"/>
              </a:defRPr>
            </a:pPr>
            <a:r>
              <a:t>predictions</a:t>
            </a:r>
          </a:p>
          <a:p>
            <a:pPr algn="ctr">
              <a:defRPr sz="900" b="0">
                <a:latin typeface="Arial"/>
              </a:defRPr>
            </a:pPr>
            <a:r>
              <a:t>Ŷ = m̂Y(C)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1828800"/>
            <a:ext cx="1188720" cy="640080"/>
          </a:xfrm>
          <a:prstGeom prst="rect">
            <a:avLst/>
          </a:prstGeom>
          <a:solidFill>
            <a:srgbClr val="DCB4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latin typeface="Arial"/>
              </a:defRPr>
            </a:pPr>
            <a:r>
              <a:t>Out-of-sample</a:t>
            </a:r>
          </a:p>
          <a:p>
            <a:pPr algn="ctr">
              <a:defRPr sz="900" b="0">
                <a:latin typeface="Arial"/>
              </a:defRPr>
            </a:pPr>
            <a:r>
              <a:t>predictions</a:t>
            </a:r>
          </a:p>
          <a:p>
            <a:pPr algn="ctr">
              <a:defRPr sz="900" b="0">
                <a:latin typeface="Arial"/>
              </a:defRPr>
            </a:pPr>
            <a:r>
              <a:t>Â = m̂A(C)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7589520" y="2514600"/>
            <a:ext cx="228600" cy="36576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0" y="2926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31546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/>
            </a:pPr>
            <a:r>
              <a:t>Combine predictions from all 5 folds to get</a:t>
            </a:r>
          </a:p>
          <a:p>
            <a:r>
              <a:t>out-of-sample predictions for entire dataset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94960" y="3611880"/>
            <a:ext cx="1371600" cy="594360"/>
          </a:xfrm>
          <a:prstGeom prst="rect">
            <a:avLst/>
          </a:prstGeom>
          <a:solidFill>
            <a:srgbClr val="FFE6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latin typeface="Arial"/>
              </a:defRPr>
            </a:pPr>
            <a:r>
              <a:t>Outcome Residual</a:t>
            </a:r>
          </a:p>
          <a:p>
            <a:pPr algn="ctr">
              <a:defRPr sz="1000" b="0">
                <a:latin typeface="Arial"/>
              </a:defRPr>
            </a:pPr>
            <a:r>
              <a:t>Ỹ = Y − 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3611880"/>
            <a:ext cx="1371600" cy="594360"/>
          </a:xfrm>
          <a:prstGeom prst="rect">
            <a:avLst/>
          </a:prstGeom>
          <a:solidFill>
            <a:srgbClr val="FFE6B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latin typeface="Arial"/>
              </a:defRPr>
            </a:pPr>
            <a:r>
              <a:t>Exposure Residual</a:t>
            </a:r>
          </a:p>
          <a:p>
            <a:pPr algn="ctr">
              <a:defRPr sz="1000" b="0">
                <a:latin typeface="Arial"/>
              </a:defRPr>
            </a:pPr>
            <a:r>
              <a:t>Ã = A − Â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6629400" y="4251960"/>
            <a:ext cx="228600" cy="457200"/>
          </a:xfrm>
          <a:prstGeom prst="downArrow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03520" y="4709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4937760"/>
            <a:ext cx="2834640" cy="731520"/>
          </a:xfrm>
          <a:prstGeom prst="rect">
            <a:avLst/>
          </a:prstGeom>
          <a:solidFill>
            <a:srgbClr val="B4C8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latin typeface="Arial"/>
              </a:defRPr>
            </a:pPr>
            <a:r>
              <a:t>Residual-on-Residual Regression</a:t>
            </a:r>
          </a:p>
          <a:p>
            <a:pPr algn="ctr">
              <a:defRPr sz="1100" b="0">
                <a:latin typeface="Arial"/>
              </a:defRPr>
            </a:pPr>
            <a:r>
              <a:t>Ỹ = ψ·Ã + ε</a:t>
            </a:r>
          </a:p>
          <a:p>
            <a:pPr algn="ctr">
              <a:defRPr sz="1100" b="0">
                <a:latin typeface="Arial"/>
              </a:defRPr>
            </a:pPr>
            <a:r>
              <a:t>(OLS with no intercept)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5760720"/>
            <a:ext cx="2834640" cy="502920"/>
          </a:xfrm>
          <a:prstGeom prst="rect">
            <a:avLst/>
          </a:prstGeom>
          <a:solidFill>
            <a:srgbClr val="FFFFC8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latin typeface="Arial"/>
              </a:defRPr>
            </a:pPr>
            <a:r>
              <a:t>ψ̂ = confounder-adjusted effect estimate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Legend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434840"/>
            <a:ext cx="274320" cy="182880"/>
          </a:xfrm>
          <a:prstGeom prst="rect">
            <a:avLst/>
          </a:prstGeom>
          <a:solidFill>
            <a:srgbClr val="C8DCF0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60" y="44348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Training folds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709160"/>
            <a:ext cx="274320" cy="182880"/>
          </a:xfrm>
          <a:prstGeom prst="rect">
            <a:avLst/>
          </a:prstGeom>
          <a:solidFill>
            <a:srgbClr val="FFC864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4709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Test/validation fold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983480"/>
            <a:ext cx="274320" cy="182880"/>
          </a:xfrm>
          <a:prstGeom prst="rect">
            <a:avLst/>
          </a:prstGeom>
          <a:solidFill>
            <a:srgbClr val="B4DCB4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22960" y="49834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Outcome model m̂Y(C)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257800"/>
            <a:ext cx="274320" cy="182880"/>
          </a:xfrm>
          <a:prstGeom prst="rect">
            <a:avLst/>
          </a:prstGeom>
          <a:solidFill>
            <a:srgbClr val="DCB4DC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2960" y="5257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Exposure model m̂A(C)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532120"/>
            <a:ext cx="274320" cy="182880"/>
          </a:xfrm>
          <a:prstGeom prst="rect">
            <a:avLst/>
          </a:prstGeom>
          <a:solidFill>
            <a:srgbClr val="FFE6B4"/>
          </a:solidFill>
          <a:ln w="9525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" y="553212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Residuals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4864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/>
            </a:pPr>
            <a:r>
              <a:t>Notes:</a:t>
            </a:r>
          </a:p>
          <a:p>
            <a:pPr>
              <a:defRPr sz="800"/>
            </a:pPr>
            <a:r>
              <a:t>• m̂Y(C) and m̂A(C) can use any flexible ML method (e.g., super learner)</a:t>
            </a:r>
          </a:p>
          <a:p>
            <a:pPr>
              <a:defRPr sz="800"/>
            </a:pPr>
            <a:r>
              <a:t>• Cross-validation ensures out-of-sample predictions avoid overfitting</a:t>
            </a:r>
          </a:p>
          <a:p>
            <a:pPr>
              <a:defRPr sz="800"/>
            </a:pPr>
            <a:r>
              <a:t>• Final OLS has no intercept because residuals are mean-zero by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8E29-544E-3463-A921-B92EA6B2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127A45-AC20-599D-893F-4A098E26A435}"/>
              </a:ext>
            </a:extLst>
          </p:cNvPr>
          <p:cNvSpPr txBox="1"/>
          <p:nvPr/>
        </p:nvSpPr>
        <p:spPr>
          <a:xfrm>
            <a:off x="4744486" y="1025521"/>
            <a:ext cx="20681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rPr lang="en-US" dirty="0"/>
              <a:t>K</a:t>
            </a:r>
            <a:r>
              <a:rPr dirty="0"/>
              <a:t>-Fold Cross-Validation (k = 1, ..., 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EAE8D-8189-FE9A-9EB6-0424F4540E95}"/>
              </a:ext>
            </a:extLst>
          </p:cNvPr>
          <p:cNvSpPr txBox="1"/>
          <p:nvPr/>
        </p:nvSpPr>
        <p:spPr>
          <a:xfrm>
            <a:off x="4020938" y="234685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/>
            </a:pPr>
            <a:r>
              <a:t>Iter.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19EFF-C45C-FE9D-E524-0EC87F3A5B15}"/>
              </a:ext>
            </a:extLst>
          </p:cNvPr>
          <p:cNvSpPr txBox="1"/>
          <p:nvPr/>
        </p:nvSpPr>
        <p:spPr>
          <a:xfrm>
            <a:off x="4432418" y="2346859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B2C2B-7555-0D88-2987-A5E09E083CCA}"/>
              </a:ext>
            </a:extLst>
          </p:cNvPr>
          <p:cNvSpPr txBox="1"/>
          <p:nvPr/>
        </p:nvSpPr>
        <p:spPr>
          <a:xfrm>
            <a:off x="4935338" y="2346859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Fold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A4EF8-3ED8-A545-5EEB-6E0C9E1F099F}"/>
              </a:ext>
            </a:extLst>
          </p:cNvPr>
          <p:cNvSpPr txBox="1"/>
          <p:nvPr/>
        </p:nvSpPr>
        <p:spPr>
          <a:xfrm>
            <a:off x="6468155" y="2346859"/>
            <a:ext cx="409086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rPr dirty="0"/>
              <a:t>Fold 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029F93-5624-0965-F932-1B695AD78693}"/>
              </a:ext>
            </a:extLst>
          </p:cNvPr>
          <p:cNvSpPr txBox="1"/>
          <p:nvPr/>
        </p:nvSpPr>
        <p:spPr>
          <a:xfrm>
            <a:off x="4066658" y="257545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A7255-F29C-0ADA-189C-08A00E402952}"/>
              </a:ext>
            </a:extLst>
          </p:cNvPr>
          <p:cNvSpPr/>
          <p:nvPr/>
        </p:nvSpPr>
        <p:spPr>
          <a:xfrm>
            <a:off x="4432418" y="2575459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dirty="0">
                <a:solidFill>
                  <a:schemeClr val="tx1"/>
                </a:solidFill>
              </a:rPr>
              <a:t>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7E5D23-45B7-30C9-9C1A-06073E37801E}"/>
              </a:ext>
            </a:extLst>
          </p:cNvPr>
          <p:cNvSpPr/>
          <p:nvPr/>
        </p:nvSpPr>
        <p:spPr>
          <a:xfrm>
            <a:off x="4935338" y="2575459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DEDFBB-0BA8-BDCE-A5C5-682549E06BF0}"/>
              </a:ext>
            </a:extLst>
          </p:cNvPr>
          <p:cNvSpPr/>
          <p:nvPr/>
        </p:nvSpPr>
        <p:spPr>
          <a:xfrm>
            <a:off x="6444098" y="2575459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141AE-AB5F-30A9-292D-631C0A072E6D}"/>
              </a:ext>
            </a:extLst>
          </p:cNvPr>
          <p:cNvSpPr txBox="1"/>
          <p:nvPr/>
        </p:nvSpPr>
        <p:spPr>
          <a:xfrm>
            <a:off x="4066658" y="2959507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4287B2-668A-3E6D-5D4A-65BF6CC94765}"/>
              </a:ext>
            </a:extLst>
          </p:cNvPr>
          <p:cNvSpPr/>
          <p:nvPr/>
        </p:nvSpPr>
        <p:spPr>
          <a:xfrm>
            <a:off x="4432418" y="2959507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dirty="0"/>
              <a:t>Train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8AAFDC-4E19-8D58-4FB1-90FEF9BB525A}"/>
              </a:ext>
            </a:extLst>
          </p:cNvPr>
          <p:cNvSpPr/>
          <p:nvPr/>
        </p:nvSpPr>
        <p:spPr>
          <a:xfrm>
            <a:off x="4935338" y="2959507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>
                <a:solidFill>
                  <a:schemeClr val="tx1"/>
                </a:solidFill>
              </a:rPr>
              <a:t>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AC760F-CC98-3218-8342-6C3CDE75A299}"/>
              </a:ext>
            </a:extLst>
          </p:cNvPr>
          <p:cNvSpPr/>
          <p:nvPr/>
        </p:nvSpPr>
        <p:spPr>
          <a:xfrm>
            <a:off x="6444098" y="2959507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BA092-EEA8-9576-20F3-263821BE4F3A}"/>
              </a:ext>
            </a:extLst>
          </p:cNvPr>
          <p:cNvSpPr txBox="1"/>
          <p:nvPr/>
        </p:nvSpPr>
        <p:spPr>
          <a:xfrm>
            <a:off x="4056599" y="3725060"/>
            <a:ext cx="3401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rPr lang="en-US" dirty="0"/>
              <a:t>K-2</a:t>
            </a:r>
            <a:endParaRPr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CBA08D-910A-836E-F266-653F408B903D}"/>
              </a:ext>
            </a:extLst>
          </p:cNvPr>
          <p:cNvSpPr/>
          <p:nvPr/>
        </p:nvSpPr>
        <p:spPr>
          <a:xfrm>
            <a:off x="4432418" y="3725060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C2AFD5-F240-E6D9-72F6-EE8A83F19614}"/>
              </a:ext>
            </a:extLst>
          </p:cNvPr>
          <p:cNvSpPr/>
          <p:nvPr/>
        </p:nvSpPr>
        <p:spPr>
          <a:xfrm>
            <a:off x="4935338" y="3725060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D12A92-FB7A-A719-8259-E2043EA06AB5}"/>
              </a:ext>
            </a:extLst>
          </p:cNvPr>
          <p:cNvSpPr/>
          <p:nvPr/>
        </p:nvSpPr>
        <p:spPr>
          <a:xfrm>
            <a:off x="6444098" y="3725060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96ADE1-B30F-4BEE-D9D5-25951B1F6475}"/>
              </a:ext>
            </a:extLst>
          </p:cNvPr>
          <p:cNvSpPr txBox="1"/>
          <p:nvPr/>
        </p:nvSpPr>
        <p:spPr>
          <a:xfrm>
            <a:off x="4056599" y="4109108"/>
            <a:ext cx="34015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rPr lang="en-US" dirty="0"/>
              <a:t>K-1</a:t>
            </a:r>
            <a:endParaRPr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1A3F72-0A7E-8E26-803C-CA66D2729E12}"/>
              </a:ext>
            </a:extLst>
          </p:cNvPr>
          <p:cNvSpPr/>
          <p:nvPr/>
        </p:nvSpPr>
        <p:spPr>
          <a:xfrm>
            <a:off x="4432418" y="4109108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F67993-BF4E-10AA-5F24-4869941AD064}"/>
              </a:ext>
            </a:extLst>
          </p:cNvPr>
          <p:cNvSpPr/>
          <p:nvPr/>
        </p:nvSpPr>
        <p:spPr>
          <a:xfrm>
            <a:off x="4935338" y="4109108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55BB43-AFF1-FD99-21AB-FAB9960ADFCB}"/>
              </a:ext>
            </a:extLst>
          </p:cNvPr>
          <p:cNvSpPr/>
          <p:nvPr/>
        </p:nvSpPr>
        <p:spPr>
          <a:xfrm>
            <a:off x="6444098" y="4109108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EC504E-1F4E-88DB-DE56-094F9037E6B4}"/>
              </a:ext>
            </a:extLst>
          </p:cNvPr>
          <p:cNvSpPr txBox="1"/>
          <p:nvPr/>
        </p:nvSpPr>
        <p:spPr>
          <a:xfrm>
            <a:off x="4103086" y="4493156"/>
            <a:ext cx="24718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/>
            </a:pPr>
            <a:r>
              <a:rPr lang="en-US" dirty="0"/>
              <a:t>K</a:t>
            </a:r>
            <a:endParaRPr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57BCAC-5047-FB5F-FB15-D2B4D20DE371}"/>
              </a:ext>
            </a:extLst>
          </p:cNvPr>
          <p:cNvSpPr/>
          <p:nvPr/>
        </p:nvSpPr>
        <p:spPr>
          <a:xfrm>
            <a:off x="4432418" y="4493156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95D581-59B0-F64C-791C-129004CEB8B9}"/>
              </a:ext>
            </a:extLst>
          </p:cNvPr>
          <p:cNvSpPr/>
          <p:nvPr/>
        </p:nvSpPr>
        <p:spPr>
          <a:xfrm>
            <a:off x="4935338" y="4493156"/>
            <a:ext cx="457200" cy="32004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t>Train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F92120-9CD5-DA3B-F8FB-F2B3E099A974}"/>
              </a:ext>
            </a:extLst>
          </p:cNvPr>
          <p:cNvSpPr/>
          <p:nvPr/>
        </p:nvSpPr>
        <p:spPr>
          <a:xfrm>
            <a:off x="6444098" y="4493156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>
                <a:solidFill>
                  <a:schemeClr val="tx1"/>
                </a:solidFill>
              </a:rPr>
              <a:t>Test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3A1DB0-8CB0-FE2A-CADB-5045385854E3}"/>
              </a:ext>
            </a:extLst>
          </p:cNvPr>
          <p:cNvSpPr txBox="1"/>
          <p:nvPr/>
        </p:nvSpPr>
        <p:spPr>
          <a:xfrm>
            <a:off x="5722017" y="28954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B4EC8E-11AF-7761-901C-70CF7E692BAF}"/>
              </a:ext>
            </a:extLst>
          </p:cNvPr>
          <p:cNvSpPr txBox="1"/>
          <p:nvPr/>
        </p:nvSpPr>
        <p:spPr>
          <a:xfrm>
            <a:off x="5744727" y="365581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17E51C-2690-7325-01B3-52346CBD8B84}"/>
              </a:ext>
            </a:extLst>
          </p:cNvPr>
          <p:cNvSpPr txBox="1"/>
          <p:nvPr/>
        </p:nvSpPr>
        <p:spPr>
          <a:xfrm>
            <a:off x="5744727" y="40451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8D902B-B6F5-229A-7EA1-BF1C029245E1}"/>
              </a:ext>
            </a:extLst>
          </p:cNvPr>
          <p:cNvSpPr txBox="1"/>
          <p:nvPr/>
        </p:nvSpPr>
        <p:spPr>
          <a:xfrm>
            <a:off x="5744727" y="442390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A0B8893-0DDA-F13A-C977-F6E379667E14}"/>
              </a:ext>
            </a:extLst>
          </p:cNvPr>
          <p:cNvSpPr txBox="1"/>
          <p:nvPr/>
        </p:nvSpPr>
        <p:spPr>
          <a:xfrm>
            <a:off x="5696507" y="2478492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43D07B-AFAD-2487-78FA-7BF71EEF79DA}"/>
              </a:ext>
            </a:extLst>
          </p:cNvPr>
          <p:cNvSpPr txBox="1"/>
          <p:nvPr/>
        </p:nvSpPr>
        <p:spPr>
          <a:xfrm>
            <a:off x="7748315" y="2346859"/>
            <a:ext cx="409086" cy="2000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rPr dirty="0"/>
              <a:t>Fold </a:t>
            </a:r>
            <a:r>
              <a:rPr lang="en-US" dirty="0"/>
              <a:t>K</a:t>
            </a:r>
            <a:endParaRPr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702B26D-1986-CB24-CC6C-FD2616BABA40}"/>
              </a:ext>
            </a:extLst>
          </p:cNvPr>
          <p:cNvSpPr/>
          <p:nvPr/>
        </p:nvSpPr>
        <p:spPr>
          <a:xfrm>
            <a:off x="7724258" y="2575459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lang="en-US" dirty="0">
                <a:solidFill>
                  <a:schemeClr val="tx1"/>
                </a:solidFill>
              </a:rPr>
              <a:t>Test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9150A36-DD46-D084-1FB9-55B2EC406EDD}"/>
              </a:ext>
            </a:extLst>
          </p:cNvPr>
          <p:cNvSpPr/>
          <p:nvPr/>
        </p:nvSpPr>
        <p:spPr>
          <a:xfrm>
            <a:off x="7724258" y="2959507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lang="en-US" dirty="0">
                <a:solidFill>
                  <a:schemeClr val="tx1"/>
                </a:solidFill>
              </a:rPr>
              <a:t>Test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ECD250C-0BFE-F189-6CBA-1C60D7A48891}"/>
              </a:ext>
            </a:extLst>
          </p:cNvPr>
          <p:cNvSpPr/>
          <p:nvPr/>
        </p:nvSpPr>
        <p:spPr>
          <a:xfrm>
            <a:off x="7724258" y="3725060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lang="en-US" dirty="0">
                <a:solidFill>
                  <a:schemeClr val="tx1"/>
                </a:solidFill>
              </a:rPr>
              <a:t>Test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B033D90-07FC-B866-A601-ED45B448D278}"/>
              </a:ext>
            </a:extLst>
          </p:cNvPr>
          <p:cNvSpPr/>
          <p:nvPr/>
        </p:nvSpPr>
        <p:spPr>
          <a:xfrm>
            <a:off x="7724258" y="4109108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 lang="en-US" dirty="0">
                <a:solidFill>
                  <a:schemeClr val="tx1"/>
                </a:solidFill>
              </a:rPr>
              <a:t>Test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189D841-6EA0-9468-FC1F-AFAAA0E58E5D}"/>
              </a:ext>
            </a:extLst>
          </p:cNvPr>
          <p:cNvSpPr/>
          <p:nvPr/>
        </p:nvSpPr>
        <p:spPr>
          <a:xfrm>
            <a:off x="7724258" y="4493156"/>
            <a:ext cx="457200" cy="320040"/>
          </a:xfrm>
          <a:prstGeom prst="rect">
            <a:avLst/>
          </a:prstGeom>
          <a:noFill/>
          <a:ln w="9525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/>
            </a:pPr>
            <a:r>
              <a:rPr>
                <a:solidFill>
                  <a:schemeClr val="tx1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685405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298</Words>
  <Application>Microsoft Macintosh PowerPoint</Application>
  <PresentationFormat>Custom</PresentationFormat>
  <Paragraphs>118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Naimi, Ashley</cp:lastModifiedBy>
  <cp:revision>2</cp:revision>
  <dcterms:created xsi:type="dcterms:W3CDTF">2013-01-27T09:14:16Z</dcterms:created>
  <dcterms:modified xsi:type="dcterms:W3CDTF">2026-02-04T22:46:56Z</dcterms:modified>
  <cp:category/>
</cp:coreProperties>
</file>